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Raleway"/>
      <p:regular r:id="rId27"/>
      <p:bold r:id="rId28"/>
      <p:italic r:id="rId29"/>
      <p:boldItalic r:id="rId30"/>
    </p:embeddedFont>
    <p:embeddedFont>
      <p:font typeface="Lat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aleway-bold.fntdata"/><Relationship Id="rId27" Type="http://schemas.openxmlformats.org/officeDocument/2006/relationships/font" Target="fonts/Raleway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aleway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regular.fntdata"/><Relationship Id="rId30" Type="http://schemas.openxmlformats.org/officeDocument/2006/relationships/font" Target="fonts/Raleway-boldItalic.fntdata"/><Relationship Id="rId11" Type="http://schemas.openxmlformats.org/officeDocument/2006/relationships/slide" Target="slides/slide6.xml"/><Relationship Id="rId33" Type="http://schemas.openxmlformats.org/officeDocument/2006/relationships/font" Target="fonts/Lato-italic.fntdata"/><Relationship Id="rId10" Type="http://schemas.openxmlformats.org/officeDocument/2006/relationships/slide" Target="slides/slide5.xml"/><Relationship Id="rId32" Type="http://schemas.openxmlformats.org/officeDocument/2006/relationships/font" Target="fonts/La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Lato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346229857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e346229857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e346229857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e346229857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e346229857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e346229857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e346229857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e346229857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346229857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e346229857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346229857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e346229857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e346229857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e346229857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e346229857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e346229857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e346229857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e346229857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e346229857_0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e346229857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346229857_0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e346229857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e346229857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e346229857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e346229857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e346229857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e346229857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e346229857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e346229857_0_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e346229857_0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e346229857_0_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e346229857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e346229857_0_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e346229857_0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e346229857_0_3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e346229857_0_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e346229857_0_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e346229857_0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e346229857_0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e346229857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Network Congestion Analysis in Campus WiFi Systems</a:t>
            </a:r>
            <a:endParaRPr sz="2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Data-Driven Performance Optimization </a:t>
            </a:r>
            <a:endParaRPr sz="5800"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450" y="2987150"/>
            <a:ext cx="7688100" cy="184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Joonmoni Kakoty (CSD25009)</a:t>
            </a:r>
            <a:endParaRPr sz="2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Muhammad Shaqil Shaheen (CSD25004)</a:t>
            </a:r>
            <a:endParaRPr sz="2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8" name="Google Shape;88;p13" title="Tezpur-University-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8848" y="58298"/>
            <a:ext cx="1332700" cy="136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727650" y="6802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Abstract </a:t>
            </a:r>
            <a:endParaRPr/>
          </a:p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729450" y="1329850"/>
            <a:ext cx="7688700" cy="30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900"/>
              <a:t>Campus WiFi is essential for academic and administrative tasks</a:t>
            </a:r>
            <a:endParaRPr sz="19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900"/>
              <a:t>Study analyzes real-world network data</a:t>
            </a:r>
            <a:endParaRPr sz="19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900"/>
              <a:t>Uses:</a:t>
            </a:r>
            <a:endParaRPr sz="19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○"/>
            </a:pPr>
            <a:r>
              <a:rPr lang="en" sz="1700"/>
              <a:t>Data preprocessing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○"/>
            </a:pPr>
            <a:r>
              <a:rPr lang="en" sz="1700"/>
              <a:t>Visualization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○"/>
            </a:pPr>
            <a:r>
              <a:rPr lang="en" sz="1700"/>
              <a:t>Machine learning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900"/>
              <a:t>Goal: Improve performance using data-driven insights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729450" y="6079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 </a:t>
            </a:r>
            <a:endParaRPr/>
          </a:p>
        </p:txBody>
      </p:sp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729450" y="1317800"/>
            <a:ext cx="7688700" cy="30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Frequent WiFi issues across campus: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Slow speeds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latency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Disconnections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Root Causes: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device density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Uneven load distribution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Lack of monitoring systems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729450" y="6320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40"/>
              <a:t>Objectives </a:t>
            </a:r>
            <a:endParaRPr sz="2440"/>
          </a:p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729450" y="1293700"/>
            <a:ext cx="7688700" cy="30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en" sz="2100"/>
              <a:t>Analyze network performance</a:t>
            </a:r>
            <a:endParaRPr sz="2100"/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en" sz="2100"/>
              <a:t>Identify congestion patterns</a:t>
            </a:r>
            <a:endParaRPr sz="2100"/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en" sz="2100"/>
              <a:t>Evaluate influencing factors</a:t>
            </a:r>
            <a:endParaRPr sz="2100"/>
          </a:p>
          <a:p>
            <a:pPr indent="-3619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100"/>
              <a:buAutoNum type="arabicPeriod"/>
            </a:pPr>
            <a:r>
              <a:rPr lang="en" sz="2100"/>
              <a:t>Suggest optimization strategies</a:t>
            </a:r>
            <a:endParaRPr sz="2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type="title"/>
          </p:nvPr>
        </p:nvSpPr>
        <p:spPr>
          <a:xfrm>
            <a:off x="729450" y="6200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Description </a:t>
            </a:r>
            <a:endParaRPr/>
          </a:p>
        </p:txBody>
      </p:sp>
      <p:sp>
        <p:nvSpPr>
          <p:cNvPr id="112" name="Google Shape;112;p17"/>
          <p:cNvSpPr txBox="1"/>
          <p:nvPr>
            <p:ph idx="1" type="body"/>
          </p:nvPr>
        </p:nvSpPr>
        <p:spPr>
          <a:xfrm>
            <a:off x="729450" y="1293700"/>
            <a:ext cx="7688700" cy="30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Type: CSV (Structured Data)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Size: ~526 rows × 12 columns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Features: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Department / Hostel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Connected Devices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Speed (Download/Upload)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Latency, Packet Loss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Signal Strength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Congestion Index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13" name="Google Shape;113;p17" title="Screenshot 2026-05-19 2347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8375" y="1016375"/>
            <a:ext cx="4666026" cy="332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>
            <p:ph type="title"/>
          </p:nvPr>
        </p:nvSpPr>
        <p:spPr>
          <a:xfrm>
            <a:off x="729450" y="6148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Preprocessing</a:t>
            </a:r>
            <a:endParaRPr sz="2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8"/>
          <p:cNvSpPr txBox="1"/>
          <p:nvPr>
            <p:ph idx="1" type="body"/>
          </p:nvPr>
        </p:nvSpPr>
        <p:spPr>
          <a:xfrm>
            <a:off x="729450" y="1292925"/>
            <a:ext cx="7688700" cy="30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Removed duplicates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/>
              <a:t>Handled missing values:</a:t>
            </a:r>
            <a:endParaRPr sz="20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2000"/>
              <a:t>Median &amp; Mean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/>
              <a:t>Converted timestamp → datetime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Cleaned department names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/>
          <p:nvPr>
            <p:ph type="title"/>
          </p:nvPr>
        </p:nvSpPr>
        <p:spPr>
          <a:xfrm>
            <a:off x="729450" y="6079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Engineering </a:t>
            </a:r>
            <a:endParaRPr/>
          </a:p>
        </p:txBody>
      </p:sp>
      <p:sp>
        <p:nvSpPr>
          <p:cNvPr id="125" name="Google Shape;125;p19"/>
          <p:cNvSpPr txBox="1"/>
          <p:nvPr>
            <p:ph idx="1" type="body"/>
          </p:nvPr>
        </p:nvSpPr>
        <p:spPr>
          <a:xfrm>
            <a:off x="729450" y="1305750"/>
            <a:ext cx="7688700" cy="303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57823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91667"/>
              <a:buFont typeface="Arial"/>
              <a:buChar char="●"/>
            </a:pPr>
            <a:r>
              <a:rPr lang="en" sz="2400"/>
              <a:t>Hour of Day</a:t>
            </a:r>
            <a:endParaRPr sz="2400"/>
          </a:p>
          <a:p>
            <a:pPr indent="-357823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1667"/>
              <a:buFont typeface="Arial"/>
              <a:buChar char="●"/>
            </a:pPr>
            <a:r>
              <a:rPr lang="en" sz="2400"/>
              <a:t>Day of Week</a:t>
            </a:r>
            <a:endParaRPr sz="2400"/>
          </a:p>
          <a:p>
            <a:pPr indent="-357823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1667"/>
              <a:buFont typeface="Arial"/>
              <a:buChar char="●"/>
            </a:pPr>
            <a:r>
              <a:rPr lang="en" sz="2400"/>
              <a:t>Peak vs Non-Peak</a:t>
            </a:r>
            <a:endParaRPr sz="2400"/>
          </a:p>
          <a:p>
            <a:pPr indent="-357823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1667"/>
              <a:buFont typeface="Arial"/>
              <a:buChar char="●"/>
            </a:pPr>
            <a:r>
              <a:rPr lang="en" sz="2400"/>
              <a:t>Efficiency = Speed / Devices</a:t>
            </a:r>
            <a:endParaRPr sz="2400"/>
          </a:p>
          <a:p>
            <a:pPr indent="-357823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91667"/>
              <a:buFont typeface="Arial"/>
              <a:buChar char="●"/>
            </a:pPr>
            <a:r>
              <a:rPr lang="en" sz="2400"/>
              <a:t>Congestion Level (Low/Medium/High)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/>
          </a:p>
        </p:txBody>
      </p:sp>
      <p:pic>
        <p:nvPicPr>
          <p:cNvPr id="126" name="Google Shape;126;p19" title="Screenshot 2026-05-19 21172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4694" y="93900"/>
            <a:ext cx="3905657" cy="3034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/>
          <p:nvPr>
            <p:ph type="title"/>
          </p:nvPr>
        </p:nvSpPr>
        <p:spPr>
          <a:xfrm>
            <a:off x="729450" y="6256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Classification </a:t>
            </a:r>
            <a:endParaRPr/>
          </a:p>
        </p:txBody>
      </p:sp>
      <p:sp>
        <p:nvSpPr>
          <p:cNvPr id="132" name="Google Shape;132;p20"/>
          <p:cNvSpPr txBox="1"/>
          <p:nvPr>
            <p:ph idx="1" type="body"/>
          </p:nvPr>
        </p:nvSpPr>
        <p:spPr>
          <a:xfrm>
            <a:off x="729450" y="1314575"/>
            <a:ext cx="76887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Academic Locations (Departments)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Residential Locations (Hostels)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New Fields: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Location Type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Department Name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Hostel Name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>
            <p:ph type="title"/>
          </p:nvPr>
        </p:nvSpPr>
        <p:spPr>
          <a:xfrm>
            <a:off x="729450" y="5838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Exploratory Data Analysis (EDA) </a:t>
            </a:r>
            <a:endParaRPr/>
          </a:p>
        </p:txBody>
      </p:sp>
      <p:sp>
        <p:nvSpPr>
          <p:cNvPr id="138" name="Google Shape;138;p21"/>
          <p:cNvSpPr txBox="1"/>
          <p:nvPr>
            <p:ph idx="1" type="body"/>
          </p:nvPr>
        </p:nvSpPr>
        <p:spPr>
          <a:xfrm>
            <a:off x="729450" y="1305750"/>
            <a:ext cx="7688700" cy="303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Scatter Plots</a:t>
            </a:r>
            <a:endParaRPr sz="19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/>
              <a:t>Heatmaps</a:t>
            </a:r>
            <a:endParaRPr sz="19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/>
              <a:t>Line Charts</a:t>
            </a:r>
            <a:endParaRPr sz="19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/>
              <a:t>Boxplots &amp; Violin Plots</a:t>
            </a:r>
            <a:endParaRPr sz="19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/>
              <a:t>Radar Charts</a:t>
            </a:r>
            <a:endParaRPr sz="19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/>
              <a:t>Bubble Charts</a:t>
            </a:r>
            <a:endParaRPr sz="19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/>
              <a:t>3D Visualization</a:t>
            </a:r>
            <a:endParaRPr sz="190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00"/>
          </a:p>
        </p:txBody>
      </p:sp>
      <p:pic>
        <p:nvPicPr>
          <p:cNvPr id="139" name="Google Shape;139;p21" title="Screenshot 2026-05-19 01071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6575" y="1052775"/>
            <a:ext cx="4744925" cy="3997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>
            <p:ph type="title"/>
          </p:nvPr>
        </p:nvSpPr>
        <p:spPr>
          <a:xfrm>
            <a:off x="729450" y="6200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Observations </a:t>
            </a:r>
            <a:endParaRPr/>
          </a:p>
        </p:txBody>
      </p:sp>
      <p:sp>
        <p:nvSpPr>
          <p:cNvPr id="145" name="Google Shape;145;p22"/>
          <p:cNvSpPr txBox="1"/>
          <p:nvPr>
            <p:ph idx="1" type="body"/>
          </p:nvPr>
        </p:nvSpPr>
        <p:spPr>
          <a:xfrm>
            <a:off x="729450" y="1329850"/>
            <a:ext cx="7688700" cy="30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More devices → Lower speed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/>
              <a:t>Peak hours → High congestion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/>
              <a:t>Latency &amp; packet loss increase with congestion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/>
              <a:t>Some locations consistently underperform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/>
          <p:nvPr>
            <p:ph type="title"/>
          </p:nvPr>
        </p:nvSpPr>
        <p:spPr>
          <a:xfrm>
            <a:off x="727650" y="6200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Scatter Plot Insight </a:t>
            </a:r>
            <a:endParaRPr/>
          </a:p>
        </p:txBody>
      </p:sp>
      <p:sp>
        <p:nvSpPr>
          <p:cNvPr id="151" name="Google Shape;151;p23"/>
          <p:cNvSpPr txBox="1"/>
          <p:nvPr>
            <p:ph idx="1" type="body"/>
          </p:nvPr>
        </p:nvSpPr>
        <p:spPr>
          <a:xfrm>
            <a:off x="729450" y="1293700"/>
            <a:ext cx="7688700" cy="30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Strong negative correlation:</a:t>
            </a:r>
            <a:endParaRPr sz="1900"/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900"/>
              <a:t>Devices ↑ → Speed ↓</a:t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/>
              <a:t>Shows network overload points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900"/>
          </a:p>
        </p:txBody>
      </p:sp>
      <p:pic>
        <p:nvPicPr>
          <p:cNvPr id="152" name="Google Shape;152;p23" title="Screenshot 2026-05-19 01001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9625" y="787775"/>
            <a:ext cx="4298125" cy="3288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4"/>
          <p:cNvSpPr txBox="1"/>
          <p:nvPr>
            <p:ph type="title"/>
          </p:nvPr>
        </p:nvSpPr>
        <p:spPr>
          <a:xfrm>
            <a:off x="729450" y="6079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Heatmap &amp; Time Analysis </a:t>
            </a:r>
            <a:endParaRPr/>
          </a:p>
        </p:txBody>
      </p:sp>
      <p:sp>
        <p:nvSpPr>
          <p:cNvPr id="158" name="Google Shape;158;p24"/>
          <p:cNvSpPr txBox="1"/>
          <p:nvPr>
            <p:ph idx="1" type="body"/>
          </p:nvPr>
        </p:nvSpPr>
        <p:spPr>
          <a:xfrm>
            <a:off x="729450" y="1317800"/>
            <a:ext cx="7688700" cy="30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</a:pP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Peak congestion: </a:t>
            </a:r>
            <a:r>
              <a:rPr b="1"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 AM – 6 PM</a:t>
            </a:r>
            <a:endParaRPr b="1"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</a:pP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Some departments always congested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●"/>
            </a:pP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Shows time + location dependency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/>
          </a:p>
        </p:txBody>
      </p:sp>
      <p:pic>
        <p:nvPicPr>
          <p:cNvPr id="159" name="Google Shape;159;p24" title="Screenshot 2026-05-19 0100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8125" y="2401900"/>
            <a:ext cx="6741352" cy="2613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5"/>
          <p:cNvSpPr txBox="1"/>
          <p:nvPr>
            <p:ph type="title"/>
          </p:nvPr>
        </p:nvSpPr>
        <p:spPr>
          <a:xfrm>
            <a:off x="727650" y="6256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Advanced Visual Insights </a:t>
            </a:r>
            <a:endParaRPr/>
          </a:p>
        </p:txBody>
      </p:sp>
      <p:sp>
        <p:nvSpPr>
          <p:cNvPr id="165" name="Google Shape;165;p25"/>
          <p:cNvSpPr txBox="1"/>
          <p:nvPr>
            <p:ph idx="1" type="body"/>
          </p:nvPr>
        </p:nvSpPr>
        <p:spPr>
          <a:xfrm>
            <a:off x="729450" y="1325400"/>
            <a:ext cx="7688700" cy="301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Radar → Multi-metric comparison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/>
              <a:t>Bubble → Latency impact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/>
              <a:t>3D Plot → Multi-variable interaction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/>
              <a:t>Bokeh → Interactive exploration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/>
          </a:p>
        </p:txBody>
      </p:sp>
      <p:pic>
        <p:nvPicPr>
          <p:cNvPr id="166" name="Google Shape;166;p25" title="Screenshot 2026-05-19 01033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3575" y="3353525"/>
            <a:ext cx="5872949" cy="171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5" title="Screenshot 2026-05-19 0102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51425" y="281875"/>
            <a:ext cx="3558250" cy="335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6"/>
          <p:cNvSpPr txBox="1"/>
          <p:nvPr>
            <p:ph type="title"/>
          </p:nvPr>
        </p:nvSpPr>
        <p:spPr>
          <a:xfrm>
            <a:off x="727650" y="595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 Model </a:t>
            </a:r>
            <a:endParaRPr/>
          </a:p>
        </p:txBody>
      </p:sp>
      <p:sp>
        <p:nvSpPr>
          <p:cNvPr id="173" name="Google Shape;173;p26"/>
          <p:cNvSpPr txBox="1"/>
          <p:nvPr>
            <p:ph idx="1" type="body"/>
          </p:nvPr>
        </p:nvSpPr>
        <p:spPr>
          <a:xfrm>
            <a:off x="729450" y="1329850"/>
            <a:ext cx="7688700" cy="30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Model: Random Forest Classifier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Predicts: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Congestion Level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Important Features: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Connected devices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Latency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Efficiency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74" name="Google Shape;174;p26" title="Screenshot 2026-05-19 23323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1550" y="1034800"/>
            <a:ext cx="4114351" cy="344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7"/>
          <p:cNvSpPr txBox="1"/>
          <p:nvPr>
            <p:ph type="title"/>
          </p:nvPr>
        </p:nvSpPr>
        <p:spPr>
          <a:xfrm>
            <a:off x="729450" y="6200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Insights </a:t>
            </a:r>
            <a:endParaRPr/>
          </a:p>
        </p:txBody>
      </p:sp>
      <p:sp>
        <p:nvSpPr>
          <p:cNvPr id="180" name="Google Shape;180;p27"/>
          <p:cNvSpPr txBox="1"/>
          <p:nvPr>
            <p:ph idx="1" type="body"/>
          </p:nvPr>
        </p:nvSpPr>
        <p:spPr>
          <a:xfrm>
            <a:off x="729450" y="1303750"/>
            <a:ext cx="7688700" cy="30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Times New Roman"/>
              <a:buChar char="●"/>
            </a:pPr>
            <a:r>
              <a:rPr lang="en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Device count is the primary factor affecting performance</a:t>
            </a:r>
            <a:endParaRPr sz="19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Times New Roman"/>
              <a:buChar char="●"/>
            </a:pPr>
            <a:r>
              <a:rPr lang="en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Peak hours significantly increase congestion</a:t>
            </a:r>
            <a:endParaRPr sz="19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Times New Roman"/>
              <a:buChar char="●"/>
            </a:pPr>
            <a:r>
              <a:rPr lang="en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Some areas consistently underperform</a:t>
            </a:r>
            <a:endParaRPr sz="19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Times New Roman"/>
              <a:buChar char="●"/>
            </a:pPr>
            <a:r>
              <a:rPr lang="en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Signal strength has secondary influence</a:t>
            </a:r>
            <a:endParaRPr sz="19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Times New Roman"/>
              <a:buChar char="●"/>
            </a:pPr>
            <a:r>
              <a:rPr lang="en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Latency and packet loss rise sharply during congestion</a:t>
            </a:r>
            <a:endParaRPr sz="2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8"/>
          <p:cNvSpPr txBox="1"/>
          <p:nvPr>
            <p:ph type="title"/>
          </p:nvPr>
        </p:nvSpPr>
        <p:spPr>
          <a:xfrm>
            <a:off x="727650" y="6200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 &amp; Bottom Performing Areas </a:t>
            </a:r>
            <a:endParaRPr/>
          </a:p>
        </p:txBody>
      </p:sp>
      <p:sp>
        <p:nvSpPr>
          <p:cNvPr id="186" name="Google Shape;186;p28"/>
          <p:cNvSpPr txBox="1"/>
          <p:nvPr>
            <p:ph idx="1" type="body"/>
          </p:nvPr>
        </p:nvSpPr>
        <p:spPr>
          <a:xfrm>
            <a:off x="729450" y="1282075"/>
            <a:ext cx="7688700" cy="30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Top Performing: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Low device load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Stable speeds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Worst Performing:</a:t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High-density hostels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Overloaded departments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00"/>
          </a:p>
        </p:txBody>
      </p:sp>
      <p:pic>
        <p:nvPicPr>
          <p:cNvPr id="187" name="Google Shape;187;p28" title="Screenshot 2026-05-19 2335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1125" y="1155225"/>
            <a:ext cx="4965576" cy="329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9"/>
          <p:cNvSpPr txBox="1"/>
          <p:nvPr>
            <p:ph type="title"/>
          </p:nvPr>
        </p:nvSpPr>
        <p:spPr>
          <a:xfrm>
            <a:off x="727650" y="6561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Empathy (Stakeholders) </a:t>
            </a:r>
            <a:endParaRPr/>
          </a:p>
        </p:txBody>
      </p:sp>
      <p:sp>
        <p:nvSpPr>
          <p:cNvPr id="193" name="Google Shape;193;p29"/>
          <p:cNvSpPr txBox="1"/>
          <p:nvPr>
            <p:ph idx="1" type="body"/>
          </p:nvPr>
        </p:nvSpPr>
        <p:spPr>
          <a:xfrm>
            <a:off x="729450" y="1292925"/>
            <a:ext cx="7688700" cy="30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Students:</a:t>
            </a: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Learning disruption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Faculty:</a:t>
            </a: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Teaching impact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Staff:</a:t>
            </a: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Management challenges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Management:</a:t>
            </a: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Efficiency issues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/>
          </a:p>
        </p:txBody>
      </p:sp>
      <p:pic>
        <p:nvPicPr>
          <p:cNvPr id="194" name="Google Shape;194;p29" title="Screenshot 2026-05-19 23274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999" y="1367199"/>
            <a:ext cx="4373400" cy="240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0"/>
          <p:cNvSpPr txBox="1"/>
          <p:nvPr>
            <p:ph type="title"/>
          </p:nvPr>
        </p:nvSpPr>
        <p:spPr>
          <a:xfrm>
            <a:off x="729450" y="6200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Critical &amp; Divergent Thinking </a:t>
            </a:r>
            <a:endParaRPr/>
          </a:p>
        </p:txBody>
      </p:sp>
      <p:sp>
        <p:nvSpPr>
          <p:cNvPr id="200" name="Google Shape;200;p30"/>
          <p:cNvSpPr txBox="1"/>
          <p:nvPr>
            <p:ph idx="1" type="body"/>
          </p:nvPr>
        </p:nvSpPr>
        <p:spPr>
          <a:xfrm>
            <a:off x="729450" y="1293700"/>
            <a:ext cx="7688700" cy="30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Critical Thinking: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Congestion ≠ only time-based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Signal strength ≠ performance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Divergent Thinking: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Used: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ML models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Clustering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○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Visualization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201" name="Google Shape;201;p30" title="Screenshot 2026-05-19 01073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6300" y="1100950"/>
            <a:ext cx="4994449" cy="330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1"/>
          <p:cNvSpPr txBox="1"/>
          <p:nvPr>
            <p:ph type="title"/>
          </p:nvPr>
        </p:nvSpPr>
        <p:spPr>
          <a:xfrm>
            <a:off x="729450" y="6200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Recommendations </a:t>
            </a:r>
            <a:endParaRPr/>
          </a:p>
        </p:txBody>
      </p:sp>
      <p:sp>
        <p:nvSpPr>
          <p:cNvPr id="207" name="Google Shape;207;p31"/>
          <p:cNvSpPr txBox="1"/>
          <p:nvPr>
            <p:ph idx="1" type="body"/>
          </p:nvPr>
        </p:nvSpPr>
        <p:spPr>
          <a:xfrm>
            <a:off x="729450" y="1317800"/>
            <a:ext cx="7688700" cy="30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 Immediate: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 Access Points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Optimize bandwidth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⚙️ Mid-Term: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Load balancing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Monitoring dashboards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🚀 Long-Term:</a:t>
            </a:r>
            <a:endParaRPr b="1"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AI-based prediction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Smart WiFi systems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208" name="Google Shape;208;p31" title="Screenshot 2026-05-19 01025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4124" y="817900"/>
            <a:ext cx="5197526" cy="386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2"/>
          <p:cNvSpPr txBox="1"/>
          <p:nvPr>
            <p:ph type="title"/>
          </p:nvPr>
        </p:nvSpPr>
        <p:spPr>
          <a:xfrm>
            <a:off x="729450" y="6320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Scope </a:t>
            </a:r>
            <a:endParaRPr/>
          </a:p>
        </p:txBody>
      </p:sp>
      <p:sp>
        <p:nvSpPr>
          <p:cNvPr id="214" name="Google Shape;214;p32"/>
          <p:cNvSpPr txBox="1"/>
          <p:nvPr>
            <p:ph idx="1" type="body"/>
          </p:nvPr>
        </p:nvSpPr>
        <p:spPr>
          <a:xfrm>
            <a:off x="729450" y="1305750"/>
            <a:ext cx="7688700" cy="303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Real-time data integration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/>
              <a:t>Predictive dashboards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/>
              <a:t>IoT-based optimization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/>
              <a:t>Automated network control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215" name="Google Shape;215;p32" title="Screenshot 2026-05-19 23453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5650" y="859975"/>
            <a:ext cx="5034050" cy="3367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3"/>
          <p:cNvSpPr txBox="1"/>
          <p:nvPr>
            <p:ph type="title"/>
          </p:nvPr>
        </p:nvSpPr>
        <p:spPr>
          <a:xfrm>
            <a:off x="729450" y="6320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 </a:t>
            </a:r>
            <a:endParaRPr/>
          </a:p>
        </p:txBody>
      </p:sp>
      <p:sp>
        <p:nvSpPr>
          <p:cNvPr id="221" name="Google Shape;221;p33"/>
          <p:cNvSpPr txBox="1"/>
          <p:nvPr>
            <p:ph idx="1" type="body"/>
          </p:nvPr>
        </p:nvSpPr>
        <p:spPr>
          <a:xfrm>
            <a:off x="729450" y="1305750"/>
            <a:ext cx="7688700" cy="303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Device density + peak time → main causes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Data-driven approach improves decisions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Visualization + ML gives deep insights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This project demonstrates how data analytics and machine learning can transform campus WiFi systems into efficient, scalable, and intelligent infrastructures. 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/>
              <a:t>					          </a:t>
            </a:r>
            <a:r>
              <a:rPr b="1" lang="en" sz="2200">
                <a:solidFill>
                  <a:srgbClr val="FF0000"/>
                </a:solidFill>
              </a:rPr>
              <a:t>THANK   YOU</a:t>
            </a:r>
            <a:endParaRPr b="1" sz="22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